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6"/>
  </p:handoutMasterIdLst>
  <p:sldIdLst>
    <p:sldId id="411" r:id="rId3"/>
    <p:sldId id="16766508" r:id="rId5"/>
  </p:sldIdLst>
  <p:sldSz cx="12195175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573" userDrawn="1">
          <p15:clr>
            <a:srgbClr val="A4A3A4"/>
          </p15:clr>
        </p15:guide>
        <p15:guide id="2" pos="7293" userDrawn="1">
          <p15:clr>
            <a:srgbClr val="A4A3A4"/>
          </p15:clr>
        </p15:guide>
        <p15:guide id="3" orient="horz" pos="573" userDrawn="1">
          <p15:clr>
            <a:srgbClr val="A4A3A4"/>
          </p15:clr>
        </p15:guide>
        <p15:guide id="4" orient="horz" pos="726" userDrawn="1">
          <p15:clr>
            <a:srgbClr val="A4A3A4"/>
          </p15:clr>
        </p15:guide>
        <p15:guide id="5" orient="horz" pos="20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22319"/>
    <a:srgbClr val="C00106"/>
    <a:srgbClr val="44546A"/>
    <a:srgbClr val="A5A5A5"/>
    <a:srgbClr val="D9D9D9"/>
    <a:srgbClr val="ADA1AB"/>
    <a:srgbClr val="E6EFF0"/>
    <a:srgbClr val="CACBD6"/>
    <a:srgbClr val="E6E6E6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10" autoAdjust="0"/>
    <p:restoredTop sz="93963" autoAdjust="0"/>
  </p:normalViewPr>
  <p:slideViewPr>
    <p:cSldViewPr showGuides="1">
      <p:cViewPr varScale="1">
        <p:scale>
          <a:sx n="74" d="100"/>
          <a:sy n="74" d="100"/>
        </p:scale>
        <p:origin x="436" y="52"/>
      </p:cViewPr>
      <p:guideLst>
        <p:guide pos="1573"/>
        <p:guide pos="7293"/>
        <p:guide orient="horz" pos="573"/>
        <p:guide orient="horz" pos="726"/>
        <p:guide orient="horz" pos="2035"/>
      </p:guideLst>
    </p:cSldViewPr>
  </p:slideViewPr>
  <p:notesTextViewPr>
    <p:cViewPr>
      <p:scale>
        <a:sx n="33" d="100"/>
        <a:sy n="33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680" y="5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openxmlformats.org/officeDocument/2006/relationships/tags" Target="tags/tag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357473-301C-4F69-A7FC-AE1DEF9F2C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F837B1-3942-4B36-A9A2-6AF914CEB0A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397" y="1122363"/>
            <a:ext cx="914638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397" y="3602038"/>
            <a:ext cx="914638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2067" y="1709739"/>
            <a:ext cx="1051833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2067" y="4589464"/>
            <a:ext cx="1051833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418" y="1825625"/>
            <a:ext cx="5182949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3808" y="1825625"/>
            <a:ext cx="5182949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007" y="365126"/>
            <a:ext cx="10518338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40007" y="1681163"/>
            <a:ext cx="515913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40007" y="2505075"/>
            <a:ext cx="515913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3807" y="1681163"/>
            <a:ext cx="51845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3807" y="2505075"/>
            <a:ext cx="518453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007" y="457200"/>
            <a:ext cx="393326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4538" y="987426"/>
            <a:ext cx="6173807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007" y="2057400"/>
            <a:ext cx="39332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007" y="457200"/>
            <a:ext cx="3933261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538" y="987426"/>
            <a:ext cx="6173807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40007" y="2057400"/>
            <a:ext cx="3933261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7172" y="365125"/>
            <a:ext cx="262958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418" y="365125"/>
            <a:ext cx="7736314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202568" cy="685800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914995" y="1046790"/>
            <a:ext cx="8460003" cy="76206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4235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996" y="1828665"/>
            <a:ext cx="7772786" cy="53312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965" baseline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单击此处编辑文字</a:t>
            </a:r>
            <a:endParaRPr kumimoji="1"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914995" y="2992204"/>
            <a:ext cx="3352076" cy="30516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95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年／月／日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22" y="5792869"/>
            <a:ext cx="1703935" cy="5218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312" y="6020018"/>
            <a:ext cx="2438867" cy="501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202568" cy="6858000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914995" y="1142808"/>
            <a:ext cx="5640563" cy="853674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sz="4235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感谢您的时间。</a:t>
            </a:r>
            <a:endParaRPr kumimoji="1" lang="zh-CN" altLang="en-US" dirty="0"/>
          </a:p>
        </p:txBody>
      </p:sp>
      <p:sp>
        <p:nvSpPr>
          <p:cNvPr id="12" name="文本占位符 2"/>
          <p:cNvSpPr>
            <a:spLocks noGrp="1"/>
          </p:cNvSpPr>
          <p:nvPr>
            <p:ph type="body" sz="quarter" idx="14" hasCustomPrompt="1"/>
          </p:nvPr>
        </p:nvSpPr>
        <p:spPr>
          <a:xfrm>
            <a:off x="914995" y="1987052"/>
            <a:ext cx="5640563" cy="603678"/>
          </a:xfrm>
          <a:prstGeom prst="rect">
            <a:avLst/>
          </a:prstGeom>
        </p:spPr>
        <p:txBody>
          <a:bodyPr anchor="ctr"/>
          <a:lstStyle>
            <a:lvl1pPr marL="0" marR="0" indent="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 sz="2965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29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THANKS</a:t>
            </a:r>
            <a:r>
              <a:rPr kumimoji="1" lang="en-US" altLang="zh-CN" dirty="0"/>
              <a:t>.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3175" y="6020018"/>
            <a:ext cx="1371750" cy="4201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9386863" y="5921896"/>
            <a:ext cx="2808312" cy="936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13176" y="228331"/>
            <a:ext cx="1372782" cy="420143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0" y="1004047"/>
            <a:ext cx="12195175" cy="0"/>
          </a:xfrm>
          <a:prstGeom prst="line">
            <a:avLst/>
          </a:prstGeom>
          <a:ln w="57150">
            <a:solidFill>
              <a:srgbClr val="E221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9"/>
          <p:cNvSpPr>
            <a:spLocks noGrp="1"/>
          </p:cNvSpPr>
          <p:nvPr>
            <p:ph type="title" hasCustomPrompt="1"/>
          </p:nvPr>
        </p:nvSpPr>
        <p:spPr>
          <a:xfrm>
            <a:off x="533923" y="270718"/>
            <a:ext cx="9381083" cy="55554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7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单击此处输入标题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文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85814" y="547480"/>
            <a:ext cx="6762831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此处编辑标题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85814" y="1760260"/>
            <a:ext cx="2027658" cy="541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>
                <a:solidFill>
                  <a:srgbClr val="21212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此处编辑内容</a:t>
            </a:r>
            <a:endParaRPr kumimoji="1" lang="en-US" altLang="zh-CN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862" y="6152080"/>
            <a:ext cx="1159858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P01</a:t>
            </a:r>
            <a:endParaRPr kumimoji="1"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-1"/>
            <a:ext cx="1219517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image" Target="../media/image5.png"/><Relationship Id="rId18" Type="http://schemas.openxmlformats.org/officeDocument/2006/relationships/image" Target="../media/image7.png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419" y="365126"/>
            <a:ext cx="105183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419" y="1825625"/>
            <a:ext cx="105183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418" y="6356351"/>
            <a:ext cx="2743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2C373-83E8-404D-A870-0C99071BEB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9652" y="6356351"/>
            <a:ext cx="41158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2843" y="6356351"/>
            <a:ext cx="2743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3FFD15-FD4A-41A0-98B0-8A0E50279E3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3175" y="417839"/>
            <a:ext cx="1372782" cy="4201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672" y="6216679"/>
            <a:ext cx="2036031" cy="41878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5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68995" y="980728"/>
            <a:ext cx="8136904" cy="841834"/>
          </a:xfrm>
        </p:spPr>
        <p:txBody>
          <a:bodyPr>
            <a:normAutofit/>
          </a:bodyPr>
          <a:lstStyle/>
          <a:p>
            <a:r>
              <a:rPr kumimoji="1" lang="zh-CN" altLang="en-US" sz="4000" dirty="0">
                <a:latin typeface="Arial" panose="020B0604020202020204" pitchFamily="34" charset="0"/>
                <a:ea typeface="京东朗正体 正道" panose="02000500000000000000" pitchFamily="2" charset="-122"/>
                <a:sym typeface="Arial" panose="020B0604020202020204" pitchFamily="34" charset="0"/>
              </a:rPr>
              <a:t>京东商品方案</a:t>
            </a:r>
            <a:endParaRPr kumimoji="1" lang="zh-CN" altLang="en-US" sz="4000" dirty="0">
              <a:latin typeface="Arial" panose="020B0604020202020204" pitchFamily="34" charset="0"/>
              <a:ea typeface="京东朗正体 正道" panose="02000500000000000000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3905" cy="6858000"/>
          </a:xfrm>
          <a:prstGeom prst="rect">
            <a:avLst/>
          </a:prstGeom>
        </p:spPr>
      </p:pic>
      <p:sp>
        <p:nvSpPr>
          <p:cNvPr id="13" name="SCM_STATIC_MAIN_BACKGROUND"/>
          <p:cNvSpPr/>
          <p:nvPr/>
        </p:nvSpPr>
        <p:spPr>
          <a:xfrm>
            <a:off x="326073" y="909955"/>
            <a:ext cx="4885690" cy="4864735"/>
          </a:xfrm>
          <a:prstGeom prst="roundRect">
            <a:avLst>
              <a:gd name="adj" fmla="val 30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/>
            </a:r>
            <a:r>
              <a:rPr lang="en-US" altLang="zh-CN">
                <a:solidFill>
                  <a:schemeClr val="tx1"/>
                </a:solidFill>
              </a:rPr>
              <a:t/>
            </a:r>
            <a:r>
              <a:rPr lang="zh-CN" altLang="en-US">
                <a:solidFill>
                  <a:schemeClr val="tx1"/>
                </a:solidFill>
              </a:rPr>
              <a:t/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SCM_FIELD_SELLING_POINTS"/>
          <p:cNvSpPr>
            <a:spLocks noChangeArrowheads="1"/>
          </p:cNvSpPr>
          <p:nvPr/>
        </p:nvSpPr>
        <p:spPr bwMode="auto">
          <a:xfrm>
            <a:off x="5360988" y="2470785"/>
            <a:ext cx="6427249" cy="16605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algn="just" rtl="0">
              <a:lnSpc>
                <a:spcPct val="150000"/>
              </a:lnSpc>
              <a:defRPr/>
            </a:pPr>
            <a:r>
              <a:rPr lang="zh-CN" altLang="en-US" sz="2000" b="1" u="sng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商品卖点：</a:t>
            </a:r>
            <a:endParaRPr lang="en-US" altLang="zh-CN" sz="2000" b="1" u="sng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  <a:p>
            <a:pPr marL="342900" indent="-342900" algn="just" rtl="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en-US" altLang="zh-CN" sz="12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{{selling_point_1}}</a:t>
            </a:r>
            <a:endParaRPr lang="zh-CN" altLang="en-US" sz="1200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  <a:p>
            <a:pPr marL="342900" indent="-342900" algn="just" rtl="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en-US" altLang="zh-CN" sz="12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{{selling_point_2}}</a:t>
            </a:r>
            <a:endParaRPr lang="zh-CN" altLang="en-US" sz="1200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  <a:p>
            <a:pPr marL="342900" indent="-342900" algn="just" rtl="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en-US" altLang="zh-CN" sz="12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{{selling_point_3}}</a:t>
            </a:r>
            <a:endParaRPr lang="zh-CN" altLang="en-US" sz="1200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  <a:p>
            <a:pPr marL="342900" indent="-342900" algn="just" rtl="0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en-US" altLang="zh-CN" sz="12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{{selling_point_4}}</a:t>
            </a:r>
            <a:endParaRPr kumimoji="0" lang="en-US" altLang="zh-CN" sz="1200" b="0" i="0" u="none" strike="noStrike" cap="none" spc="0" normalizeH="0" baseline="0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</p:txBody>
      </p:sp>
      <p:sp>
        <p:nvSpPr>
          <p:cNvPr id="6" name="SCM_FIELD_REFERENCE"/>
          <p:cNvSpPr/>
          <p:nvPr/>
        </p:nvSpPr>
        <p:spPr>
          <a:xfrm>
            <a:off x="5361305" y="1481455"/>
            <a:ext cx="6426835" cy="106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市场参考价：</a:t>
            </a:r>
            <a:r>
              <a:rPr lang="en-US" altLang="zh-CN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</a:t>
            </a:r>
            <a:r>
              <a:rPr lang="zh-CN" altLang="en-US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京东大客户价：</a:t>
            </a:r>
            <a:r>
              <a:rPr lang="en-US" altLang="zh-CN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</a:t>
            </a:r>
            <a:r>
              <a:rPr lang="zh-CN" altLang="en-US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折扣率：</a:t>
            </a:r>
            <a:r>
              <a:rPr lang="en-US" altLang="zh-CN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</a:t>
            </a:r>
            <a:r>
              <a:rPr lang="zh-CN" altLang="en-US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</a:t>
            </a:r>
            <a:br>
              <a:rPr lang="zh-CN" altLang="en-US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</a:br>
            <a:r>
              <a:rPr lang="en-US" altLang="zh-CN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SKU</a:t>
            </a:r>
            <a:r>
              <a:rPr lang="zh-CN" altLang="en-US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：</a:t>
            </a:r>
            <a:r>
              <a:rPr lang="en-US" altLang="zh-CN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       </a:t>
            </a:r>
            <a:r>
              <a:rPr lang="zh-CN" altLang="en-US" sz="14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市场参考价不要虚高，客户会查！</a:t>
            </a:r>
            <a:endParaRPr lang="en-US" altLang="zh-CN" sz="1400" b="1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货期：</a:t>
            </a:r>
            <a:r>
              <a:rPr lang="en-US" altLang="zh-CN" sz="14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  </a:t>
            </a:r>
            <a:r>
              <a:rPr lang="zh-CN" altLang="en-US" sz="14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发货物流</a:t>
            </a:r>
            <a:r>
              <a:rPr lang="en-US" altLang="zh-CN" sz="14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/</a:t>
            </a:r>
            <a:r>
              <a:rPr lang="zh-CN" altLang="en-US" sz="14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快递</a:t>
            </a:r>
            <a:r>
              <a:rPr lang="zh-CN" altLang="en-US" sz="1400" b="1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：</a:t>
            </a:r>
            <a:r>
              <a:rPr lang="en-US" altLang="zh-CN" sz="1400" b="1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</a:t>
            </a:r>
            <a:r>
              <a:rPr lang="zh-CN" altLang="en-US" sz="1400" b="1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</a:t>
            </a:r>
            <a:r>
              <a:rPr lang="zh-CN" altLang="en-US" sz="14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质保</a:t>
            </a:r>
            <a:r>
              <a:rPr lang="zh-CN" altLang="en-US" sz="1400" b="1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：</a:t>
            </a:r>
            <a:r>
              <a:rPr lang="en-US" altLang="zh-CN" sz="1400" b="1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</a:t>
            </a:r>
            <a:endParaRPr lang="en-US" altLang="zh-CN" sz="1400" b="1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</p:txBody>
      </p:sp>
      <p:sp>
        <p:nvSpPr>
          <p:cNvPr id="7" name="SCM_FIELD_TITLE"/>
          <p:cNvSpPr/>
          <p:nvPr/>
        </p:nvSpPr>
        <p:spPr>
          <a:xfrm>
            <a:off x="5321392" y="537003"/>
            <a:ext cx="6547816" cy="10147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{{product_name}}</a:t>
            </a:r>
            <a:r>
              <a:rPr lang="en-US" altLang="zh-CN" sz="20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/>
            </a:r>
            <a:r>
              <a:rPr lang="zh-CN" altLang="en-US" sz="20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/>
            </a:r>
            <a:r>
              <a:rPr lang="en-US" altLang="zh-CN" sz="20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/>
            </a:r>
            <a:r>
              <a:rPr lang="en-US" altLang="zh-CN" sz="20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/>
            </a:r>
            <a:r>
              <a:rPr lang="zh-CN" altLang="en-US" sz="20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/>
            </a:r>
            <a:endParaRPr lang="zh-CN" altLang="en-US" sz="2000" b="1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  <a:p>
            <a:endParaRPr lang="zh-CN" altLang="en-US" sz="2000" b="1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</p:txBody>
      </p:sp>
      <p:sp>
        <p:nvSpPr>
          <p:cNvPr id="17" name="SCM_STATIC_PROJECT_NUMBER"/>
          <p:cNvSpPr/>
          <p:nvPr/>
        </p:nvSpPr>
        <p:spPr>
          <a:xfrm>
            <a:off x="727393" y="283845"/>
            <a:ext cx="1567180" cy="47307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l">
              <a:lnSpc>
                <a:spcPct val="90000"/>
              </a:lnSpc>
              <a:spcBef>
                <a:spcPts val="1000"/>
              </a:spcBef>
              <a:buClrTx/>
              <a:buSzTx/>
              <a:buFontTx/>
            </a:pPr>
            <a:r>
              <a:rPr lang="zh-CN" altLang="en-US" sz="2400" b="1" dirty="0">
                <a:solidFill>
                  <a:schemeClr val="bg1"/>
                </a:solidFill>
                <a:latin typeface="京东朗正体 正道" panose="02000500000000000000" pitchFamily="2" charset="-122"/>
                <a:ea typeface="京东朗正体 正道" panose="02000500000000000000" pitchFamily="2" charset="-122"/>
                <a:cs typeface="微软雅黑" panose="020B0503020204020204" charset="-122"/>
              </a:rPr>
              <a:t>方案编号</a:t>
            </a:r>
            <a:endParaRPr lang="zh-CN" altLang="en-US" sz="2400" b="1" dirty="0">
              <a:solidFill>
                <a:schemeClr val="bg1"/>
              </a:solidFill>
              <a:latin typeface="京东朗正体 正道" panose="02000500000000000000" pitchFamily="2" charset="-122"/>
              <a:ea typeface="京东朗正体 正道" panose="02000500000000000000" pitchFamily="2" charset="-122"/>
              <a:cs typeface="微软雅黑" panose="020B0503020204020204" charset="-122"/>
            </a:endParaRPr>
          </a:p>
        </p:txBody>
      </p:sp>
      <p:sp>
        <p:nvSpPr>
          <p:cNvPr id="8" name="SCM_STATIC_IMAGE_CAPTION"/>
          <p:cNvSpPr>
            <a:spLocks noChangeArrowheads="1"/>
          </p:cNvSpPr>
          <p:nvPr/>
        </p:nvSpPr>
        <p:spPr bwMode="auto">
          <a:xfrm>
            <a:off x="5487353" y="4004945"/>
            <a:ext cx="6427249" cy="55308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just" rtl="0">
              <a:lnSpc>
                <a:spcPct val="150000"/>
              </a:lnSpc>
              <a:defRPr/>
            </a:pPr>
            <a:r>
              <a:rPr lang="zh-CN" altLang="en-US" sz="2000" b="1" u="sng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组套后或内外包装图片：</a:t>
            </a:r>
            <a:endParaRPr lang="en-US" altLang="zh-CN" sz="1400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</p:txBody>
      </p:sp>
      <p:sp>
        <p:nvSpPr>
          <p:cNvPr id="12" name="矩形: 圆角 1"/>
          <p:cNvSpPr/>
          <p:nvPr/>
        </p:nvSpPr>
        <p:spPr>
          <a:xfrm>
            <a:off x="5377180" y="4509135"/>
            <a:ext cx="5500278" cy="1724025"/>
          </a:xfrm>
          <a:prstGeom prst="roundRect">
            <a:avLst>
              <a:gd name="adj" fmla="val 30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SCM_SLOT_IMAGE_SUPPLEMENT_0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295" y="4581525"/>
            <a:ext cx="1656080" cy="1584325"/>
          </a:xfrm>
          <a:prstGeom prst="rect">
            <a:avLst/>
          </a:prstGeom>
        </p:spPr>
      </p:pic>
      <p:pic>
        <p:nvPicPr>
          <p:cNvPr id="28" name="SCM_SLOT_IMAGE_SUPPLEMENT_0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3355" y="4581525"/>
            <a:ext cx="1656080" cy="1584325"/>
          </a:xfrm>
          <a:prstGeom prst="rect">
            <a:avLst/>
          </a:prstGeom>
        </p:spPr>
      </p:pic>
      <p:pic>
        <p:nvPicPr>
          <p:cNvPr id="27" name="SCM_SLOT_IMAGE_SUPPLEMENT_0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325" y="4581525"/>
            <a:ext cx="1656080" cy="1584325"/>
          </a:xfrm>
          <a:prstGeom prst="rect">
            <a:avLst/>
          </a:prstGeom>
        </p:spPr>
      </p:pic>
      <p:sp>
        <p:nvSpPr>
          <p:cNvPr id="18" name="SCM_VALUE_market_price"/>
          <p:cNvSpPr txBox="1"/>
          <p:nvPr/>
        </p:nvSpPr>
        <p:spPr>
          <a:xfrm>
            <a:off x="5361305" y="1481455"/>
            <a:ext cx="6426835" cy="10604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市场参考价：</a:t>
            </a:r>
            <a:r>
              <a:rPr lang="en-US" altLang="zh-CN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{{market_price}}</a:t>
            </a:r>
          </a:p>
        </p:txBody>
      </p:sp>
      <p:sp>
        <p:nvSpPr>
          <p:cNvPr id="19" name="SCM_VALUE_jd_customer_price"/>
          <p:cNvSpPr txBox="1"/>
          <p:nvPr/>
        </p:nvSpPr>
        <p:spPr>
          <a:xfrm>
            <a:off x="5361305" y="1481455"/>
            <a:ext cx="6426835" cy="10604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市场参考价：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京东大客户价：</a:t>
            </a:r>
            <a:r>
              <a:rPr lang="en-US" altLang="zh-CN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{{jd_customer_price}}</a:t>
            </a:r>
          </a:p>
        </p:txBody>
      </p:sp>
      <p:sp>
        <p:nvSpPr>
          <p:cNvPr id="20" name="SCM_VALUE_discount_rate"/>
          <p:cNvSpPr txBox="1"/>
          <p:nvPr/>
        </p:nvSpPr>
        <p:spPr>
          <a:xfrm>
            <a:off x="5361305" y="1481455"/>
            <a:ext cx="6426835" cy="10604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市场参考价：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京东大客户价：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折扣率：</a:t>
            </a:r>
            <a:r>
              <a:rPr lang="en-US" altLang="zh-CN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{{discount_rate}}</a:t>
            </a:r>
          </a:p>
        </p:txBody>
      </p:sp>
      <p:sp>
        <p:nvSpPr>
          <p:cNvPr id="21" name="SCM_VALUE_sku"/>
          <p:cNvSpPr txBox="1"/>
          <p:nvPr/>
        </p:nvSpPr>
        <p:spPr>
          <a:xfrm>
            <a:off x="5361305" y="1481455"/>
            <a:ext cx="6426835" cy="10604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市场参考价：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京东大客户价：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折扣率：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</a:t>
            </a:r>
            <a:br>
              <a:rPr lang="zh-CN" altLang="en-US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</a:b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SKU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：</a:t>
            </a:r>
            <a:r>
              <a:rPr lang="en-US" altLang="zh-CN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{{sku}}</a:t>
            </a:r>
          </a:p>
        </p:txBody>
      </p:sp>
      <p:sp>
        <p:nvSpPr>
          <p:cNvPr id="22" name="SCM_VALUE_fulfillment_cycle"/>
          <p:cNvSpPr txBox="1"/>
          <p:nvPr/>
        </p:nvSpPr>
        <p:spPr>
          <a:xfrm>
            <a:off x="5361305" y="1481455"/>
            <a:ext cx="6426835" cy="10604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市场参考价：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京东大客户价：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折扣率：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</a:t>
            </a:r>
            <a:br>
              <a:rPr lang="zh-CN" altLang="en-US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</a:b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SKU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       </a:t>
            </a:r>
            <a:r>
              <a:rPr lang="zh-CN" altLang="en-US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市场参考价不要虚高，客户会查！</a:t>
            </a:r>
            <a:endParaRPr lang="en-US" altLang="zh-CN" sz="1400" b="1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货期：</a:t>
            </a:r>
            <a:r>
              <a:rPr lang="en-US" altLang="zh-CN" sz="1400" b="1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{{fulfillment_cycle}}</a:t>
            </a:r>
          </a:p>
        </p:txBody>
      </p:sp>
      <p:sp>
        <p:nvSpPr>
          <p:cNvPr id="23" name="SCM_VALUE_shipping_courier"/>
          <p:cNvSpPr txBox="1"/>
          <p:nvPr/>
        </p:nvSpPr>
        <p:spPr>
          <a:xfrm>
            <a:off x="5361305" y="1481455"/>
            <a:ext cx="6426835" cy="10604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市场参考价：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京东大客户价：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折扣率：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</a:t>
            </a:r>
            <a:br>
              <a:rPr lang="zh-CN" altLang="en-US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</a:b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SKU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       </a:t>
            </a:r>
            <a:r>
              <a:rPr lang="zh-CN" altLang="en-US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市场参考价不要虚高，客户会查！</a:t>
            </a:r>
            <a:endParaRPr lang="en-US" altLang="zh-CN" sz="1400" b="1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货期：</a:t>
            </a:r>
            <a:r>
              <a:rPr lang="en-US" altLang="zh-CN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  </a:t>
            </a:r>
            <a:r>
              <a:rPr lang="zh-CN" altLang="en-US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发货物流</a:t>
            </a:r>
            <a:r>
              <a:rPr lang="en-US" altLang="zh-CN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/</a:t>
            </a:r>
            <a:r>
              <a:rPr lang="zh-CN" altLang="en-US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快递</a:t>
            </a:r>
            <a:r>
              <a:rPr lang="zh-CN" altLang="en-US" sz="1400" b="1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：</a:t>
            </a:r>
            <a:r>
              <a:rPr lang="en-US" altLang="zh-CN" sz="1400" b="1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{{shipping_courier}}</a:t>
            </a:r>
          </a:p>
        </p:txBody>
      </p:sp>
      <p:sp>
        <p:nvSpPr>
          <p:cNvPr id="24" name="SCM_VALUE_warranty_period"/>
          <p:cNvSpPr txBox="1"/>
          <p:nvPr/>
        </p:nvSpPr>
        <p:spPr>
          <a:xfrm>
            <a:off x="5361305" y="1481455"/>
            <a:ext cx="6426835" cy="10604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市场参考价：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京东大客户价：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折扣率：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</a:t>
            </a:r>
            <a:br>
              <a:rPr lang="zh-CN" altLang="en-US" sz="1400" dirty="0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</a:b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SKU</a:t>
            </a:r>
            <a:r>
              <a:rPr lang="zh-CN" altLang="en-US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：</a:t>
            </a:r>
            <a:r>
              <a:rPr lang="en-US" altLang="zh-CN" sz="1400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       </a:t>
            </a:r>
            <a:r>
              <a:rPr lang="zh-CN" altLang="en-US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市场参考价不要虚高，客户会查！</a:t>
            </a:r>
            <a:endParaRPr lang="en-US" altLang="zh-CN" sz="1400" b="1" dirty="0">
              <a:solidFill>
                <a:schemeClr val="bg1"/>
              </a:solidFill>
              <a:latin typeface="京东朗正体 玲珑" panose="02000400000000000000" pitchFamily="2" charset="-122"/>
              <a:ea typeface="京东朗正体 玲珑" panose="02000400000000000000" pitchFamily="2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货期：</a:t>
            </a:r>
            <a:r>
              <a:rPr lang="en-US" altLang="zh-CN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          </a:t>
            </a:r>
            <a:r>
              <a:rPr lang="zh-CN" altLang="en-US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发货物流</a:t>
            </a:r>
            <a:r>
              <a:rPr lang="en-US" altLang="zh-CN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/</a:t>
            </a:r>
            <a:r>
              <a:rPr lang="zh-CN" altLang="en-US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快递</a:t>
            </a:r>
            <a:r>
              <a:rPr lang="zh-CN" altLang="en-US" sz="1400" b="1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：</a:t>
            </a:r>
            <a:r>
              <a:rPr lang="en-US" altLang="zh-CN" sz="1400" b="1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</a:t>
            </a:r>
            <a:r>
              <a:rPr lang="zh-CN" altLang="en-US" sz="1400" b="1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     </a:t>
            </a:r>
            <a:r>
              <a:rPr lang="zh-CN" altLang="en-US" sz="1400" b="1" dirty="0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质保</a:t>
            </a:r>
            <a:r>
              <a:rPr lang="zh-CN" altLang="en-US" sz="1400" b="1">
                <a:solidFill>
                  <a:schemeClr val="bg1">
                    <a:alpha val="0"/>
                  </a:schemeClr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：</a:t>
            </a:r>
            <a:r>
              <a:rPr lang="en-US" altLang="zh-CN" sz="1400" b="1">
                <a:solidFill>
                  <a:schemeClr val="bg1"/>
                </a:solidFill>
                <a:latin typeface="京东朗正体 玲珑" panose="02000400000000000000" pitchFamily="2" charset="-122"/>
                <a:ea typeface="京东朗正体 玲珑" panose="02000400000000000000" pitchFamily="2" charset="-122"/>
                <a:sym typeface="+mn-ea"/>
              </a:rPr>
              <a:t>{{warranty_period}}</a:t>
            </a:r>
          </a:p>
        </p:txBody>
      </p:sp>
      <p:pic>
        <p:nvPicPr>
          <p:cNvPr id="25" name="SCM_SLOT_IMAGE_MAIN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73" y="909955"/>
            <a:ext cx="4885690" cy="48647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jI1NjljNjNkZmYxYWM5MTBhMGQxYWM4YTRhMWRkY2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WPS 演示</Application>
  <PresentationFormat>自定义</PresentationFormat>
  <Paragraphs>26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京东朗正体 正道</vt:lpstr>
      <vt:lpstr>京东朗正体 玲珑</vt:lpstr>
      <vt:lpstr>Arial Unicode MS</vt:lpstr>
      <vt:lpstr>等线 Light</vt:lpstr>
      <vt:lpstr>等线</vt:lpstr>
      <vt:lpstr>Calibri</vt:lpstr>
      <vt:lpstr>Wingdings</vt:lpstr>
      <vt:lpstr>京东朗正体 正道</vt:lpstr>
      <vt:lpstr>京东朗正体 玲珑</vt:lpstr>
      <vt:lpstr>字魂黑正体</vt:lpstr>
      <vt:lpstr>玲珑体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ppt模板</dc:title>
  <dc:creator>摄图网</dc:creator>
  <dc:subject>摄图网</dc:subject>
  <cp:lastModifiedBy>溺.</cp:lastModifiedBy>
  <cp:revision>3381</cp:revision>
  <dcterms:created xsi:type="dcterms:W3CDTF">2015-12-27T01:24:00Z</dcterms:created>
  <dcterms:modified xsi:type="dcterms:W3CDTF">2026-10-13T06:07:35Z</dcterms:modified>
  <dc:identifier>JD_FESTIVE_RED:5:two-page:4c1c4922d63f7932a37e51308a25ea3b426cf4ca7f126dcb43aaf208447f1657</dc:identifier>
  <cp:keywords>8c8097c187e4f0f5589ab5d31b2b1a0a047abbfb7f54eaa5ec855c45b6314494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RubyTemplateID">
    <vt:lpwstr>2</vt:lpwstr>
  </property>
  <property fmtid="{D5CDD505-2E9C-101B-9397-08002B2CF9AE}" pid="4" name="ICV">
    <vt:lpwstr>97D69E949446412E9ED9BEA15D923FB0_13</vt:lpwstr>
  </property>
</Properties>
</file>