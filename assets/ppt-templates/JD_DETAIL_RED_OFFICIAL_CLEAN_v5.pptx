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11" r:id="rId3"/>
    <p:sldId id="421" r:id="rId4"/>
  </p:sldIdLst>
  <p:sldSz cx="12195175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573" userDrawn="1">
          <p15:clr>
            <a:srgbClr val="A4A3A4"/>
          </p15:clr>
        </p15:guide>
        <p15:guide id="2" pos="7223" userDrawn="1">
          <p15:clr>
            <a:srgbClr val="A4A3A4"/>
          </p15:clr>
        </p15:guide>
        <p15:guide id="3" orient="horz" pos="588" userDrawn="1">
          <p15:clr>
            <a:srgbClr val="A4A3A4"/>
          </p15:clr>
        </p15:guide>
        <p15:guide id="4" orient="horz" pos="670" userDrawn="1">
          <p15:clr>
            <a:srgbClr val="A4A3A4"/>
          </p15:clr>
        </p15:guide>
        <p15:guide id="5" orient="horz" pos="21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22319"/>
    <a:srgbClr val="C00106"/>
    <a:srgbClr val="44546A"/>
    <a:srgbClr val="A5A5A5"/>
    <a:srgbClr val="D9D9D9"/>
    <a:srgbClr val="ADA1AB"/>
    <a:srgbClr val="E6EFF0"/>
    <a:srgbClr val="CACBD6"/>
    <a:srgbClr val="E6E6E6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10" autoAdjust="0"/>
    <p:restoredTop sz="93963" autoAdjust="0"/>
  </p:normalViewPr>
  <p:slideViewPr>
    <p:cSldViewPr showGuides="1">
      <p:cViewPr varScale="1">
        <p:scale>
          <a:sx n="123" d="100"/>
          <a:sy n="123" d="100"/>
        </p:scale>
        <p:origin x="552" y="101"/>
      </p:cViewPr>
      <p:guideLst>
        <p:guide pos="1573"/>
        <p:guide pos="7223"/>
        <p:guide orient="horz" pos="588"/>
        <p:guide orient="horz" pos="670"/>
        <p:guide orient="horz" pos="2164"/>
      </p:guideLst>
    </p:cSldViewPr>
  </p:slideViewPr>
  <p:notesTextViewPr>
    <p:cViewPr>
      <p:scale>
        <a:sx n="33" d="100"/>
        <a:sy n="33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57473-301C-4F69-A7FC-AE1DEF9F2C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837B1-3942-4B36-A9A2-6AF914CEB0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397" y="1122363"/>
            <a:ext cx="914638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397" y="3602038"/>
            <a:ext cx="914638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067" y="1709739"/>
            <a:ext cx="1051833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2067" y="4589464"/>
            <a:ext cx="1051833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418" y="1825625"/>
            <a:ext cx="5182949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3808" y="1825625"/>
            <a:ext cx="5182949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007" y="365126"/>
            <a:ext cx="1051833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007" y="1681163"/>
            <a:ext cx="51591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007" y="2505075"/>
            <a:ext cx="515913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3807" y="1681163"/>
            <a:ext cx="51845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3807" y="2505075"/>
            <a:ext cx="518453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007" y="457200"/>
            <a:ext cx="39332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4538" y="987426"/>
            <a:ext cx="617380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007" y="2057400"/>
            <a:ext cx="3933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007" y="457200"/>
            <a:ext cx="39332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538" y="987426"/>
            <a:ext cx="617380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007" y="2057400"/>
            <a:ext cx="3933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7172" y="365125"/>
            <a:ext cx="262958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418" y="365125"/>
            <a:ext cx="7736314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202568" cy="685800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914995" y="1046790"/>
            <a:ext cx="8460003" cy="76206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235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996" y="1828665"/>
            <a:ext cx="7772786" cy="53312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965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单击此处编辑文字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914995" y="2992204"/>
            <a:ext cx="3352076" cy="30516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9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年／月／日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22" y="5792869"/>
            <a:ext cx="1703935" cy="5218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312" y="6020018"/>
            <a:ext cx="2438867" cy="501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202568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914995" y="1142808"/>
            <a:ext cx="5640563" cy="853674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423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感谢您的时间。</a:t>
            </a:r>
            <a:endParaRPr kumimoji="1"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914995" y="1987052"/>
            <a:ext cx="5640563" cy="603678"/>
          </a:xfrm>
          <a:prstGeom prst="rect">
            <a:avLst/>
          </a:prstGeom>
        </p:spPr>
        <p:txBody>
          <a:bodyPr anchor="ctr"/>
          <a:lstStyle>
            <a:lvl1pPr marL="0" marR="0" indent="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 sz="296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9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175" y="6020018"/>
            <a:ext cx="1371750" cy="420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386863" y="5921896"/>
            <a:ext cx="2808312" cy="936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" y="67"/>
            <a:ext cx="12194840" cy="6858054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686352" y="533157"/>
            <a:ext cx="1219433" cy="68548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b="1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003841" y="1523840"/>
            <a:ext cx="582873" cy="456661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3587489" y="1523840"/>
            <a:ext cx="4110673" cy="456661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3003841" y="2090740"/>
            <a:ext cx="582873" cy="423783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586711" y="2090740"/>
            <a:ext cx="4111381" cy="423783"/>
          </a:xfrm>
          <a:prstGeom prst="rect">
            <a:avLst/>
          </a:prstGeom>
        </p:spPr>
        <p:txBody>
          <a:bodyPr lIns="91440" tIns="45720" rIns="91440" bIns="45720"/>
          <a:lstStyle>
            <a:lvl1pPr marL="407670" marR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5" hasCustomPrompt="1"/>
          </p:nvPr>
        </p:nvSpPr>
        <p:spPr>
          <a:xfrm>
            <a:off x="3003841" y="2657643"/>
            <a:ext cx="582873" cy="43307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6" hasCustomPrompt="1"/>
          </p:nvPr>
        </p:nvSpPr>
        <p:spPr>
          <a:xfrm>
            <a:off x="3003841" y="3224543"/>
            <a:ext cx="582873" cy="433076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17" hasCustomPrompt="1"/>
          </p:nvPr>
        </p:nvSpPr>
        <p:spPr>
          <a:xfrm>
            <a:off x="3007978" y="3791446"/>
            <a:ext cx="578802" cy="381373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8" name="文本占位符 26"/>
          <p:cNvSpPr>
            <a:spLocks noGrp="1"/>
          </p:cNvSpPr>
          <p:nvPr>
            <p:ph type="body" sz="quarter" idx="18" hasCustomPrompt="1"/>
          </p:nvPr>
        </p:nvSpPr>
        <p:spPr>
          <a:xfrm>
            <a:off x="3589200" y="2657643"/>
            <a:ext cx="4108898" cy="433074"/>
          </a:xfrm>
          <a:prstGeom prst="rect">
            <a:avLst/>
          </a:prstGeom>
        </p:spPr>
        <p:txBody>
          <a:bodyPr lIns="91440" tIns="45720" rIns="91440" bIns="45720"/>
          <a:lstStyle>
            <a:lvl1pPr marL="407670" marR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40" name="文本占位符 30"/>
          <p:cNvSpPr>
            <a:spLocks noGrp="1"/>
          </p:cNvSpPr>
          <p:nvPr>
            <p:ph type="body" sz="quarter" idx="19" hasCustomPrompt="1"/>
          </p:nvPr>
        </p:nvSpPr>
        <p:spPr>
          <a:xfrm>
            <a:off x="3589196" y="3224543"/>
            <a:ext cx="4108897" cy="433076"/>
          </a:xfrm>
          <a:prstGeom prst="rect">
            <a:avLst/>
          </a:prstGeom>
        </p:spPr>
        <p:txBody>
          <a:bodyPr lIns="91440" tIns="45720" rIns="91440" bIns="45720"/>
          <a:lstStyle>
            <a:lvl1pPr marL="407670" marR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41" name="文本占位符 33"/>
          <p:cNvSpPr>
            <a:spLocks noGrp="1"/>
          </p:cNvSpPr>
          <p:nvPr>
            <p:ph type="body" sz="quarter" idx="20" hasCustomPrompt="1"/>
          </p:nvPr>
        </p:nvSpPr>
        <p:spPr>
          <a:xfrm>
            <a:off x="3586711" y="3791446"/>
            <a:ext cx="4111381" cy="381373"/>
          </a:xfrm>
          <a:prstGeom prst="rect">
            <a:avLst/>
          </a:prstGeom>
        </p:spPr>
        <p:txBody>
          <a:bodyPr lIns="91440" tIns="45720" rIns="91440" bIns="45720"/>
          <a:lstStyle>
            <a:lvl1pPr marL="407670" marR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287" y="6112966"/>
            <a:ext cx="1372782" cy="42014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7.pn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419" y="365126"/>
            <a:ext cx="105183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419" y="1825625"/>
            <a:ext cx="105183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418" y="6356351"/>
            <a:ext cx="2743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652" y="6356351"/>
            <a:ext cx="41158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2843" y="6356351"/>
            <a:ext cx="2743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175" y="417839"/>
            <a:ext cx="1372782" cy="4201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672" y="6216679"/>
            <a:ext cx="2036031" cy="4187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68995" y="980728"/>
            <a:ext cx="8136904" cy="841834"/>
          </a:xfrm>
        </p:spPr>
        <p:txBody>
          <a:bodyPr>
            <a:normAutofit/>
          </a:bodyPr>
          <a:lstStyle/>
          <a:p>
            <a:r>
              <a:rPr kumimoji="1" lang="zh-CN" altLang="en-US" sz="4000" dirty="0">
                <a:latin typeface="Arial" panose="020B0604020202020204" pitchFamily="34" charset="0"/>
                <a:ea typeface="京东朗正体 正道" panose="02000500000000000000" pitchFamily="2" charset="-122"/>
                <a:sym typeface="Arial" panose="020B0604020202020204" pitchFamily="34" charset="0"/>
              </a:rPr>
              <a:t>京东家部供应链方案</a:t>
            </a:r>
            <a:endParaRPr kumimoji="1" lang="zh-CN" altLang="en-US" sz="4000" dirty="0">
              <a:latin typeface="Arial" panose="020B0604020202020204" pitchFamily="34" charset="0"/>
              <a:ea typeface="京东朗正体 正道" panose="02000500000000000000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M_FIELD_SPECIFICATION"/>
          <p:cNvSpPr/>
          <p:nvPr/>
        </p:nvSpPr>
        <p:spPr>
          <a:xfrm>
            <a:off x="5832475" y="3007995"/>
            <a:ext cx="5759450" cy="31305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</a:rPr>
              <a:t>商品规格：</a:t>
            </a:r>
            <a:r>
              <a:rPr sz="1200" b="0">
                <a:solidFill>
                  <a:srgbClr val="000000"/>
                </a:solidFill>
                <a:latin typeface="微软雅黑" panose="020B0503020204020204" charset="-122"/>
              </a:rPr>
              <a:t>{{specification}}</a:t>
            </a:r>
            <a:endParaRPr kumimoji="0" lang="en-US" altLang="zh-CN" sz="1200" b="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SCM_FIELD_PACKAGING"/>
          <p:cNvSpPr/>
          <p:nvPr/>
        </p:nvSpPr>
        <p:spPr>
          <a:xfrm>
            <a:off x="5832475" y="3435985"/>
            <a:ext cx="5759450" cy="29908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</a:rPr>
              <a:t>包装清单：</a:t>
            </a:r>
            <a:r>
              <a:rPr sz="1200" b="0">
                <a:solidFill>
                  <a:srgbClr val="000000"/>
                </a:solidFill>
                <a:latin typeface="微软雅黑" panose="020B0503020204020204" charset="-122"/>
              </a:rPr>
              <a:t>{{packaging_list}}</a:t>
            </a:r>
            <a:endParaRPr kumimoji="0" lang="zh-CN" altLang="en-US" sz="1200" b="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SCM_FIELD_SELLING_POINTS"/>
          <p:cNvSpPr/>
          <p:nvPr/>
        </p:nvSpPr>
        <p:spPr>
          <a:xfrm>
            <a:off x="5842097" y="4566998"/>
            <a:ext cx="5759450" cy="15684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</a:rPr>
              <a:t>产品卖点（介绍详细）</a:t>
            </a:r>
            <a:endParaRPr kumimoji="0" lang="en-US" altLang="zh-CN" sz="1200" b="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SCM_FIELD_DELIVERY"/>
          <p:cNvSpPr/>
          <p:nvPr/>
        </p:nvSpPr>
        <p:spPr>
          <a:xfrm>
            <a:off x="5842097" y="3873216"/>
            <a:ext cx="5759450" cy="2755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</a:rPr>
              <a:t>发货物流：</a:t>
            </a:r>
            <a:r>
              <a:rPr sz="1200" b="0">
                <a:solidFill>
                  <a:srgbClr val="000000"/>
                </a:solidFill>
                <a:latin typeface="微软雅黑" panose="020B0503020204020204" charset="-122"/>
              </a:rPr>
              <a:t>{{shipping_courier}}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京东朗正体 玲珑" panose="02000400000000000000" pitchFamily="2" charset="-122"/>
              <a:ea typeface="京东朗正体 玲珑" panose="02000400000000000000" pitchFamily="2" charset="-122"/>
              <a:cs typeface="+mn-cs"/>
              <a:sym typeface="+mn-ea"/>
            </a:endParaRPr>
          </a:p>
        </p:txBody>
      </p:sp>
      <p:sp>
        <p:nvSpPr>
          <p:cNvPr id="28" name="SCM_FIELD_TITLE"/>
          <p:cNvSpPr/>
          <p:nvPr/>
        </p:nvSpPr>
        <p:spPr>
          <a:xfrm>
            <a:off x="5911670" y="780614"/>
            <a:ext cx="5731742" cy="30670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京东朗正体 玲珑"/>
              </a:rPr>
              <a:t>{{product_name}}</a:t>
            </a:r>
            <a:endParaRPr lang="en-US" altLang="zh-CN" sz="1400" b="1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</p:txBody>
      </p:sp>
      <p:cxnSp>
        <p:nvCxnSpPr>
          <p:cNvPr id="33" name="直接连接符 30"/>
          <p:cNvCxnSpPr/>
          <p:nvPr/>
        </p:nvCxnSpPr>
        <p:spPr>
          <a:xfrm>
            <a:off x="5957930" y="2817919"/>
            <a:ext cx="55086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CM_FIELD_BRAND"/>
          <p:cNvSpPr/>
          <p:nvPr/>
        </p:nvSpPr>
        <p:spPr>
          <a:xfrm>
            <a:off x="5833110" y="2391410"/>
            <a:ext cx="5760085" cy="374015"/>
          </a:xfrm>
          <a:prstGeom prst="rect">
            <a:avLst/>
          </a:prstGeom>
        </p:spPr>
        <p:txBody>
          <a:bodyPr wrap="square" anchor="t" anchorCtr="0">
            <a:noAutofit/>
          </a:bodyPr>
          <a:lstStyle/>
          <a:p>
            <a:pPr lvl="0">
              <a:lnSpc>
                <a:spcPct val="150000"/>
              </a:lnSpc>
              <a:defRPr/>
            </a:pPr>
            <a:r>
              <a:rPr sz="1200" b="0">
                <a:solidFill>
                  <a:srgbClr val="000000"/>
                </a:solidFill>
                <a:latin typeface="微软雅黑" panose="020B0503020204020204" charset="-122"/>
              </a:rPr>
              <a:t>商品品牌：</a:t>
            </a:r>
            <a:r>
              <a:rPr sz="1200" b="0">
                <a:solidFill>
                  <a:srgbClr val="000000"/>
                </a:solidFill>
                <a:latin typeface="微软雅黑" panose="020B0503020204020204" charset="-122"/>
              </a:rPr>
              <a:t>{{brand}}</a:t>
            </a:r>
            <a:endParaRPr lang="zh-CN" altLang="en-US" sz="800" dirty="0"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</p:txBody>
      </p:sp>
      <p:sp>
        <p:nvSpPr>
          <p:cNvPr id="37" name="SCM_FIELD_REFERENCE"/>
          <p:cNvSpPr/>
          <p:nvPr/>
        </p:nvSpPr>
        <p:spPr>
          <a:xfrm>
            <a:off x="5815965" y="1084580"/>
            <a:ext cx="3161030" cy="15436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>
              <a:lnSpc>
                <a:spcPct val="150000"/>
              </a:lnSpc>
              <a:defRPr/>
            </a:pPr>
            <a:r>
              <a:rPr sz="1400" b="0">
                <a:solidFill>
                  <a:srgbClr val="000000"/>
                </a:solidFill>
                <a:latin typeface="京东朗正体 玲珑"/>
              </a:rPr>
              <a:t>市场参考价：</a:t>
            </a:r>
            <a:r>
              <a:rPr sz="1400" b="0">
                <a:solidFill>
                  <a:srgbClr val="000000"/>
                </a:solidFill>
                <a:latin typeface="京东朗正体 玲珑"/>
              </a:rPr>
              <a:t>{{market_price}}</a:t>
            </a:r>
            <a:endParaRPr lang="en-US" altLang="zh-CN" sz="1400" dirty="0">
              <a:latin typeface="京东朗正体 玲珑" panose="02000400000000000000" pitchFamily="2" charset="-122"/>
              <a:ea typeface="京东朗正体 玲珑" panose="020004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京东朗正体 玲珑"/>
              </a:rPr>
              <a:t>SKU：</a:t>
            </a:r>
            <a:r>
              <a:rPr sz="1400" b="0">
                <a:solidFill>
                  <a:srgbClr val="000000"/>
                </a:solidFill>
                <a:latin typeface="京东朗正体 玲珑"/>
              </a:rPr>
              <a:t>{{sku}}</a:t>
            </a:r>
            <a:endParaRPr sz="1400" b="0">
              <a:solidFill>
                <a:srgbClr val="000000"/>
              </a:solidFill>
              <a:latin typeface="京东朗正体 玲珑"/>
            </a:endParaRP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京东朗正体 玲珑"/>
              </a:rPr>
              <a:t>备货时间：</a:t>
            </a:r>
            <a:r>
              <a:rPr sz="1400" b="0">
                <a:solidFill>
                  <a:srgbClr val="000000"/>
                </a:solidFill>
                <a:latin typeface="京东朗正体 玲珑"/>
              </a:rPr>
              <a:t>{{fulfillment_cycle}}</a:t>
            </a:r>
            <a:endParaRPr sz="1400" b="0">
              <a:solidFill>
                <a:srgbClr val="000000"/>
              </a:solidFill>
              <a:latin typeface="京东朗正体 玲珑"/>
            </a:endParaRPr>
          </a:p>
        </p:txBody>
      </p:sp>
      <p:sp>
        <p:nvSpPr>
          <p:cNvPr id="38" name="SCM_FIELD_PRICES"/>
          <p:cNvSpPr txBox="1"/>
          <p:nvPr/>
        </p:nvSpPr>
        <p:spPr>
          <a:xfrm>
            <a:off x="8921750" y="1064895"/>
            <a:ext cx="3037205" cy="1660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sz="1400" b="0">
                <a:solidFill>
                  <a:srgbClr val="000000"/>
                </a:solidFill>
                <a:latin typeface="京东朗正体 玲珑"/>
              </a:rPr>
              <a:t>京东大客户价：</a:t>
            </a:r>
            <a:r>
              <a:rPr sz="1400" b="0">
                <a:solidFill>
                  <a:srgbClr val="FF0000"/>
                </a:solidFill>
                <a:latin typeface="京东朗正体 玲珑"/>
              </a:rPr>
              <a:t>{{jd_customer_price}}</a:t>
            </a:r>
            <a:endParaRPr lang="zh-CN" altLang="en-US" sz="1400" dirty="0">
              <a:solidFill>
                <a:srgbClr val="FF0000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京东朗正体 玲珑"/>
              </a:rPr>
              <a:t>折扣率：</a:t>
            </a:r>
            <a:r>
              <a:rPr sz="1400" b="0">
                <a:solidFill>
                  <a:srgbClr val="000000"/>
                </a:solidFill>
                <a:latin typeface="京东朗正体 玲珑"/>
              </a:rPr>
              <a:t>{{discount_rate}}</a:t>
            </a:r>
            <a:endParaRPr sz="1400" b="0">
              <a:solidFill>
                <a:srgbClr val="000000"/>
              </a:solidFill>
              <a:latin typeface="京东朗正体 玲珑"/>
            </a:endParaRP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000000"/>
                </a:solidFill>
                <a:latin typeface="京东朗正体 玲珑"/>
              </a:rPr>
              <a:t>起订量：</a:t>
            </a:r>
            <a:r>
              <a:rPr sz="1400" b="0">
                <a:solidFill>
                  <a:srgbClr val="000000"/>
                </a:solidFill>
                <a:latin typeface="京东朗正体 玲珑"/>
              </a:rPr>
              <a:t>{{minimum_order_quantity}}</a:t>
            </a:r>
            <a:endParaRPr sz="1400" b="0">
              <a:solidFill>
                <a:srgbClr val="000000"/>
              </a:solidFill>
              <a:latin typeface="京东朗正体 玲珑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03319" y="4426057"/>
            <a:ext cx="2666114" cy="44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b="1" u="sng" dirty="0"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组套后或内外包装图片：</a:t>
            </a:r>
            <a:endParaRPr lang="en-US" altLang="zh-CN" sz="1200" dirty="0"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842097" y="4103809"/>
            <a:ext cx="575945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是否可定制：不支持定制                         定制周期：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不支持定制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单次起订量：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不支持定制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                         单地址起订量：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不支持定制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   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SCM_SLOT_IMAGE_MAIN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188595"/>
            <a:ext cx="4319905" cy="4320540"/>
          </a:xfrm>
          <a:prstGeom prst="rect">
            <a:avLst/>
          </a:prstGeom>
        </p:spPr>
      </p:pic>
      <p:pic>
        <p:nvPicPr>
          <p:cNvPr id="41" name="SCM_SLOT_IMAGE_SUPPLEMENT_0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" y="4941417"/>
            <a:ext cx="1249984" cy="1800453"/>
          </a:xfrm>
          <a:prstGeom prst="rect">
            <a:avLst/>
          </a:prstGeom>
        </p:spPr>
      </p:pic>
      <p:pic>
        <p:nvPicPr>
          <p:cNvPr id="42" name="SCM_SLOT_IMAGE_SUPPLEMENT_0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715" y="4941417"/>
            <a:ext cx="1238097" cy="1800453"/>
          </a:xfrm>
          <a:prstGeom prst="rect">
            <a:avLst/>
          </a:prstGeom>
        </p:spPr>
      </p:pic>
      <p:pic>
        <p:nvPicPr>
          <p:cNvPr id="43" name="SCM_SLOT_IMAGE_SUPPLEMENT_0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0693" y="4872837"/>
            <a:ext cx="1200607" cy="180045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I1NjljNjNkZmYxYWM5MTBhMGQxYWM4YTRhMWRkY2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WPS 演示</Application>
  <PresentationFormat>自定义</PresentationFormat>
  <Paragraphs>27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京东朗正体 正道</vt:lpstr>
      <vt:lpstr>京东朗正体 玲珑</vt:lpstr>
      <vt:lpstr>京东朗正体 玲珑</vt:lpstr>
      <vt:lpstr>Arial Unicode MS</vt:lpstr>
      <vt:lpstr>等线 Light</vt:lpstr>
      <vt:lpstr>等线</vt:lpstr>
      <vt:lpstr>Calibri</vt:lpstr>
      <vt:lpstr>Segoe Print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ppt模板</dc:title>
  <dc:creator>摄图网</dc:creator>
  <dc:subject>摄图网</dc:subject>
  <cp:lastModifiedBy>溺.</cp:lastModifiedBy>
  <cp:revision>3377</cp:revision>
  <dcterms:created xsi:type="dcterms:W3CDTF">2015-12-27T01:24:00Z</dcterms:created>
  <dcterms:modified xsi:type="dcterms:W3CDTF">2026-10-14T03:53:42Z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RubyTemplateID">
    <vt:lpwstr>2</vt:lpwstr>
  </property>
  <property fmtid="{D5CDD505-2E9C-101B-9397-08002B2CF9AE}" pid="4" name="ICV">
    <vt:lpwstr>37269A0CC4CF418783E32E9B0348EF62_13</vt:lpwstr>
  </property>
</Properties>
</file>